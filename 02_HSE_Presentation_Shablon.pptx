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86" r:id="rId5"/>
    <p:sldId id="289" r:id="rId6"/>
    <p:sldId id="290" r:id="rId7"/>
    <p:sldId id="291" r:id="rId8"/>
    <p:sldId id="288" r:id="rId9"/>
    <p:sldId id="271" r:id="rId10"/>
    <p:sldId id="287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67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AA6F15-8D27-4918-91CB-69B85D1958AC}">
          <p14:sldIdLst>
            <p14:sldId id="286"/>
            <p14:sldId id="289"/>
            <p14:sldId id="290"/>
            <p14:sldId id="291"/>
            <p14:sldId id="288"/>
          </p14:sldIdLst>
        </p14:section>
        <p14:section name="Templaes" id="{2F36554A-86DE-47B3-8D34-D24B81FB0CC4}">
          <p14:sldIdLst>
            <p14:sldId id="271"/>
            <p14:sldId id="287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67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694"/>
  </p:normalViewPr>
  <p:slideViewPr>
    <p:cSldViewPr snapToGrid="0" snapToObjects="1">
      <p:cViewPr varScale="1">
        <p:scale>
          <a:sx n="76" d="100"/>
          <a:sy n="76" d="100"/>
        </p:scale>
        <p:origin x="444" y="4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</a:p>
        </c:rich>
      </c:tx>
      <c:layout>
        <c:manualLayout>
          <c:xMode val="edge"/>
          <c:yMode val="edge"/>
          <c:x val="0.13063871409555111"/>
          <c:y val="7.8973354680321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RU"/>
        </a:p>
      </c:txPr>
    </c:title>
    <c:autoTitleDeleted val="0"/>
    <c:plotArea>
      <c:layout>
        <c:manualLayout>
          <c:layoutTarget val="inner"/>
          <c:xMode val="edge"/>
          <c:yMode val="edge"/>
          <c:x val="0.13376246841772368"/>
          <c:y val="0.10958869184472636"/>
          <c:w val="0.79262705246283227"/>
          <c:h val="0.7351366342675542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39-BB44-A38F-FDE984D880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656A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39-BB44-A38F-FDE984D880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102D6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39-BB44-A38F-FDE984D880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55724448"/>
        <c:axId val="955630256"/>
      </c:barChart>
      <c:catAx>
        <c:axId val="955724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  <c:crossAx val="955630256"/>
        <c:crosses val="autoZero"/>
        <c:auto val="1"/>
        <c:lblAlgn val="ctr"/>
        <c:lblOffset val="100"/>
        <c:noMultiLvlLbl val="0"/>
      </c:catAx>
      <c:valAx>
        <c:axId val="955630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  <c:crossAx val="95572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</a:p>
        </c:rich>
      </c:tx>
      <c:layout>
        <c:manualLayout>
          <c:xMode val="edge"/>
          <c:yMode val="edge"/>
          <c:x val="0.13063871409555111"/>
          <c:y val="7.8973354680321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RU"/>
        </a:p>
      </c:txPr>
    </c:title>
    <c:autoTitleDeleted val="0"/>
    <c:plotArea>
      <c:layout>
        <c:manualLayout>
          <c:layoutTarget val="inner"/>
          <c:xMode val="edge"/>
          <c:yMode val="edge"/>
          <c:x val="0.13376246841772368"/>
          <c:y val="0.10958869184472636"/>
          <c:w val="0.79262705246283227"/>
          <c:h val="0.7351366342675542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CE-9845-A0E3-DAA648CD0F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656A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CE-9845-A0E3-DAA648CD0F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102D6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CE-9845-A0E3-DAA648CD0F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55724448"/>
        <c:axId val="955630256"/>
      </c:barChart>
      <c:catAx>
        <c:axId val="955724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  <c:crossAx val="955630256"/>
        <c:crosses val="autoZero"/>
        <c:auto val="1"/>
        <c:lblAlgn val="ctr"/>
        <c:lblOffset val="100"/>
        <c:noMultiLvlLbl val="0"/>
      </c:catAx>
      <c:valAx>
        <c:axId val="955630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  <c:crossAx val="95572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800" b="0" i="0" baseline="0">
                <a:effectLst/>
              </a:rPr>
              <a:t>Название графика, может быть набрано и здесь</a:t>
            </a:r>
            <a:endParaRPr lang="en-RU" sz="16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0" i="0" u="none" strike="noStrike" kern="120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656A6"/>
            </a:solidFill>
          </c:spPr>
          <c:dPt>
            <c:idx val="0"/>
            <c:bubble3D val="0"/>
            <c:spPr>
              <a:solidFill>
                <a:srgbClr val="102D6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09-E04A-A1C9-FFCFDA6CEE25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609-E04A-A1C9-FFCFDA6CEE25}"/>
              </c:ext>
            </c:extLst>
          </c:dPt>
          <c:dPt>
            <c:idx val="2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609-E04A-A1C9-FFCFDA6CEE25}"/>
              </c:ext>
            </c:extLst>
          </c:dPt>
          <c:dPt>
            <c:idx val="3"/>
            <c:bubble3D val="0"/>
            <c:spPr>
              <a:solidFill>
                <a:srgbClr val="165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609-E04A-A1C9-FFCFDA6CEE2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HSE Sans" panose="02000000000000000000" pitchFamily="2" charset="0"/>
                    <a:ea typeface="+mn-ea"/>
                    <a:cs typeface="+mn-cs"/>
                  </a:defRPr>
                </a:pPr>
                <a:endParaRPr lang="en-RU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09-E04A-A1C9-FFCFDA6CEE25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02D69"/>
              </a:solidFill>
              <a:latin typeface="+mn-lt"/>
              <a:ea typeface="+mn-ea"/>
              <a:cs typeface="+mn-cs"/>
            </a:defRPr>
          </a:pPr>
          <a:endParaRPr lang="en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>
                <a:solidFill>
                  <a:srgbClr val="0E2D69"/>
                </a:solidFill>
              </a:rPr>
              <a:t>Название графика</a:t>
            </a:r>
            <a:endParaRPr lang="en-GB" sz="1600">
              <a:solidFill>
                <a:srgbClr val="0E2D69"/>
              </a:solidFill>
            </a:endParaRPr>
          </a:p>
        </c:rich>
      </c:tx>
      <c:layout>
        <c:manualLayout>
          <c:xMode val="edge"/>
          <c:yMode val="edge"/>
          <c:x val="9.7466984111306623E-2"/>
          <c:y val="2.14281345501251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CD5A5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D5A5A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AF-B047-A821-8AF749D3CE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FFD74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D746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10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AF-B047-A821-8AF749D3CE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E61F3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61F3D"/>
              </a:solidFill>
              <a:ln w="63500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15</c:v>
                </c:pt>
                <c:pt idx="2">
                  <c:v>8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6AF-B047-A821-8AF749D3CE2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12</c:v>
                </c:pt>
              </c:strCache>
            </c:strRef>
          </c:tx>
          <c:spPr>
            <a:ln w="28575" cap="rnd">
              <a:solidFill>
                <a:srgbClr val="11A0D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1A0D7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12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6AF-B047-A821-8AF749D3CE2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23</c:v>
                </c:pt>
              </c:strCache>
            </c:strRef>
          </c:tx>
          <c:spPr>
            <a:ln w="28575" cap="rnd">
              <a:solidFill>
                <a:srgbClr val="7D4EB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6628C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2.4</c:v>
                </c:pt>
                <c:pt idx="1">
                  <c:v>2</c:v>
                </c:pt>
                <c:pt idx="2">
                  <c:v>6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6AF-B047-A821-8AF749D3CE2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34</c:v>
                </c:pt>
              </c:strCache>
            </c:strRef>
          </c:tx>
          <c:spPr>
            <a:ln w="28575" cap="rnd">
              <a:solidFill>
                <a:srgbClr val="029C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29C63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12</c:v>
                </c:pt>
                <c:pt idx="1">
                  <c:v>9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6AF-B047-A821-8AF749D3CE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4565504"/>
        <c:axId val="1021066896"/>
      </c:lineChart>
      <c:catAx>
        <c:axId val="137456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  <c:crossAx val="1021066896"/>
        <c:crosses val="autoZero"/>
        <c:auto val="1"/>
        <c:lblAlgn val="ctr"/>
        <c:lblOffset val="100"/>
        <c:noMultiLvlLbl val="0"/>
      </c:catAx>
      <c:valAx>
        <c:axId val="1021066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en-RU"/>
          </a:p>
        </c:txPr>
        <c:crossAx val="137456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E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RU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HSE Sans" panose="02000000000000000000" pitchFamily="2" charset="0"/>
        </a:defRPr>
      </a:pPr>
      <a:endParaRPr lang="en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b="0">
                <a:solidFill>
                  <a:srgbClr val="0E2D69"/>
                </a:solidFill>
              </a:rPr>
              <a:t>Название диаграммы</a:t>
            </a:r>
            <a:endParaRPr lang="en-US" sz="1600" b="0">
              <a:solidFill>
                <a:srgbClr val="0E2D69"/>
              </a:solidFill>
            </a:endParaRPr>
          </a:p>
        </c:rich>
      </c:tx>
      <c:layout>
        <c:manualLayout>
          <c:xMode val="edge"/>
          <c:yMode val="edge"/>
          <c:x val="0.123203125"/>
          <c:y val="3.45249494515844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baseline="0">
              <a:solidFill>
                <a:srgbClr val="0E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E2D6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A9C-1A40-9C59-B90F7073FE10}"/>
              </c:ext>
            </c:extLst>
          </c:dPt>
          <c:dPt>
            <c:idx val="1"/>
            <c:bubble3D val="0"/>
            <c:spPr>
              <a:solidFill>
                <a:srgbClr val="234A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A9C-1A40-9C59-B90F7073FE10}"/>
              </c:ext>
            </c:extLst>
          </c:dPt>
          <c:dPt>
            <c:idx val="2"/>
            <c:bubble3D val="0"/>
            <c:spPr>
              <a:solidFill>
                <a:srgbClr val="E61F3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A9C-1A40-9C59-B90F7073FE10}"/>
              </c:ext>
            </c:extLst>
          </c:dPt>
          <c:dPt>
            <c:idx val="3"/>
            <c:bubble3D val="0"/>
            <c:spPr>
              <a:solidFill>
                <a:srgbClr val="11A0D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A9C-1A40-9C59-B90F7073FE10}"/>
              </c:ext>
            </c:extLst>
          </c:dPt>
          <c:dPt>
            <c:idx val="4"/>
            <c:bubble3D val="0"/>
            <c:spPr>
              <a:solidFill>
                <a:srgbClr val="FFD74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A9C-1A40-9C59-B90F7073FE10}"/>
              </c:ext>
            </c:extLst>
          </c:dPt>
          <c:dPt>
            <c:idx val="5"/>
            <c:bubble3D val="0"/>
            <c:spPr>
              <a:solidFill>
                <a:srgbClr val="029C6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A9C-1A40-9C59-B90F7073FE10}"/>
              </c:ext>
            </c:extLst>
          </c:dPt>
          <c:dPt>
            <c:idx val="6"/>
            <c:bubble3D val="0"/>
            <c:spPr>
              <a:solidFill>
                <a:srgbClr val="EB681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A9C-1A40-9C59-B90F7073FE10}"/>
              </c:ext>
            </c:extLst>
          </c:dPt>
          <c:dPt>
            <c:idx val="7"/>
            <c:bubble3D val="0"/>
            <c:spPr>
              <a:solidFill>
                <a:srgbClr val="96628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A9C-1A40-9C59-B90F7073FE1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HSE Sans" panose="02000000000000000000" pitchFamily="2" charset="0"/>
                    <a:ea typeface="+mn-ea"/>
                    <a:cs typeface="+mn-cs"/>
                  </a:defRPr>
                </a:pPr>
                <a:endParaRPr lang="en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1st Qtr</c:v>
                </c:pt>
                <c:pt idx="5">
                  <c:v>2nd Qtr</c:v>
                </c:pt>
                <c:pt idx="6">
                  <c:v>3rd Qtr</c:v>
                </c:pt>
                <c:pt idx="7">
                  <c:v>4th Qtr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8.1999999999999993</c:v>
                </c:pt>
                <c:pt idx="1">
                  <c:v>3.2</c:v>
                </c:pt>
                <c:pt idx="2">
                  <c:v>32</c:v>
                </c:pt>
                <c:pt idx="3">
                  <c:v>1.2</c:v>
                </c:pt>
                <c:pt idx="4">
                  <c:v>8.1999999999999993</c:v>
                </c:pt>
                <c:pt idx="5">
                  <c:v>12</c:v>
                </c:pt>
                <c:pt idx="6">
                  <c:v>1.4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A9C-1A40-9C59-B90F7073FE1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47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HSE Sans" panose="02000000000000000000" pitchFamily="2" charset="0"/>
        </a:defRPr>
      </a:pPr>
      <a:endParaRPr lang="en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>
                <a:solidFill>
                  <a:srgbClr val="0E2D69"/>
                </a:solidFill>
              </a:rPr>
              <a:t>Название диаграммы</a:t>
            </a:r>
            <a:endParaRPr lang="en-US">
              <a:solidFill>
                <a:srgbClr val="0E2D69"/>
              </a:solidFill>
            </a:endParaRPr>
          </a:p>
        </c:rich>
      </c:tx>
      <c:layout>
        <c:manualLayout>
          <c:xMode val="edge"/>
          <c:yMode val="edge"/>
          <c:x val="2.4765625000000034E-2"/>
          <c:y val="3.18691841091548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pattFill prst="pct80">
              <a:fgClr>
                <a:srgbClr val="0E2D69"/>
              </a:fgClr>
              <a:bgClr>
                <a:srgbClr val="234A9B"/>
              </a:bgClr>
            </a:pattFill>
            <a:ln w="12700">
              <a:solidFill>
                <a:schemeClr val="bg1">
                  <a:lumMod val="95000"/>
                </a:schemeClr>
              </a:solidFill>
            </a:ln>
          </c:spPr>
          <c:dPt>
            <c:idx val="0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74-7A45-BB9E-D235637721AA}"/>
              </c:ext>
            </c:extLst>
          </c:dPt>
          <c:dPt>
            <c:idx val="1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74-7A45-BB9E-D235637721AA}"/>
              </c:ext>
            </c:extLst>
          </c:dPt>
          <c:dPt>
            <c:idx val="2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174-7A45-BB9E-D235637721AA}"/>
              </c:ext>
            </c:extLst>
          </c:dPt>
          <c:dPt>
            <c:idx val="3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174-7A45-BB9E-D235637721AA}"/>
              </c:ext>
            </c:extLst>
          </c:dPt>
          <c:dPt>
            <c:idx val="4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174-7A45-BB9E-D235637721AA}"/>
              </c:ext>
            </c:extLst>
          </c:dPt>
          <c:dPt>
            <c:idx val="5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174-7A45-BB9E-D235637721AA}"/>
              </c:ext>
            </c:extLst>
          </c:dPt>
          <c:dPt>
            <c:idx val="6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174-7A45-BB9E-D235637721AA}"/>
              </c:ext>
            </c:extLst>
          </c:dPt>
          <c:dPt>
            <c:idx val="7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174-7A45-BB9E-D235637721AA}"/>
              </c:ext>
            </c:extLst>
          </c:dPt>
          <c:cat>
            <c:strRef>
              <c:f>Sheet1!$A$2:$A$9</c:f>
              <c:strCache>
                <c:ptCount val="8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1st Qtr</c:v>
                </c:pt>
                <c:pt idx="5">
                  <c:v>2nd Qtr</c:v>
                </c:pt>
                <c:pt idx="6">
                  <c:v>3rd Qtr</c:v>
                </c:pt>
                <c:pt idx="7">
                  <c:v>4th Qtr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8.1999999999999993</c:v>
                </c:pt>
                <c:pt idx="1">
                  <c:v>3.2</c:v>
                </c:pt>
                <c:pt idx="2">
                  <c:v>32</c:v>
                </c:pt>
                <c:pt idx="3">
                  <c:v>1.2</c:v>
                </c:pt>
                <c:pt idx="4">
                  <c:v>8.1999999999999993</c:v>
                </c:pt>
                <c:pt idx="5">
                  <c:v>12</c:v>
                </c:pt>
                <c:pt idx="6">
                  <c:v>1.4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174-7A45-BB9E-D235637721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en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HSE Sans" panose="02000000000000000000" pitchFamily="2" charset="0"/>
        </a:defRPr>
      </a:pPr>
      <a:endParaRPr lang="en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06/17/2026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8228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945F-CD50-1119-B311-EA92F24B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038AD-C4C4-768E-3E8C-E897E2DB3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FD85B-1C1D-6056-FAAB-9C2AB5F98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168AC-6842-8332-C649-0BC953D71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47800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1190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25392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06/17/2026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D0507-6226-C7BE-92C2-5BDAA6B82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B6842-B627-0BBE-A28B-B42F435E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50E5C6-3FA0-78EC-51BA-C47802859B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0DA1EC-84B6-5088-4BED-F930425D96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0127F4-1992-FDC2-CE81-23C23C7E2129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5C0D847-94D8-9468-A828-67E53551BB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03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20777-A2F6-112F-8020-729ECD8E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50DC319-3FA7-D1FB-0272-CC81026159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3DF501-E7A2-2F6D-C13D-628862C60D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182E4F4-7A4A-1478-377D-D182A68F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CC5AA2C-F39C-3F42-35DB-A42F96529F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numCol="2"/>
          <a:lstStyle/>
          <a:p>
            <a:r>
              <a:rPr lang="ru-RU" dirty="0"/>
              <a:t>Компания:</a:t>
            </a:r>
          </a:p>
          <a:p>
            <a:endParaRPr lang="ru-RU" dirty="0"/>
          </a:p>
          <a:p>
            <a:r>
              <a:rPr lang="ru-RU" b="1" dirty="0"/>
              <a:t>Анализируемые данные:</a:t>
            </a:r>
          </a:p>
          <a:p>
            <a:r>
              <a:rPr lang="ru-RU" dirty="0"/>
              <a:t>Листинг объявлений в Париже на сайте </a:t>
            </a:r>
            <a:r>
              <a:rPr lang="en-US" dirty="0"/>
              <a:t>Airbnb</a:t>
            </a:r>
            <a:r>
              <a:rPr lang="ru-RU" dirty="0"/>
              <a:t> по состоянию на</a:t>
            </a:r>
            <a:r>
              <a:rPr lang="en-US" dirty="0"/>
              <a:t> 2025-09-12</a:t>
            </a:r>
            <a:endParaRPr lang="ru-RU" dirty="0"/>
          </a:p>
          <a:p>
            <a:r>
              <a:rPr lang="ru-RU" b="1" dirty="0"/>
              <a:t>Решаемая задача:</a:t>
            </a:r>
          </a:p>
          <a:p>
            <a:r>
              <a:rPr lang="ru-RU" dirty="0"/>
              <a:t>Повышение</a:t>
            </a:r>
            <a:r>
              <a:rPr lang="en-US" dirty="0"/>
              <a:t> </a:t>
            </a:r>
            <a:r>
              <a:rPr lang="ru-RU" dirty="0"/>
              <a:t>выручки платформы</a:t>
            </a:r>
          </a:p>
          <a:p>
            <a:r>
              <a:rPr lang="ru-RU" b="1" dirty="0"/>
              <a:t>Методы решения задач: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Интеграция модели предсказания занятость для новых объектов на платформе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Использования модели кластеризации для персонализации рекомендаций собственникам объектов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42577A1-C378-E026-F1ED-C80681453C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40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FF901-4143-BD9D-77B9-8857F5B76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F69C7B7-FF0A-795C-3D99-CAD52A3A13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C6FDF5-5486-F033-5FEF-124FD5D280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4C14710-CFE7-6F95-3138-B7E41C4FF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 схема влияния на выручку через интеграцию модели кластеризации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945338-EB9C-B102-F11F-A455522ADA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numCol="2"/>
          <a:lstStyle/>
          <a:p>
            <a:pPr marL="342900" indent="-342900">
              <a:buAutoNum type="arabicPeriod"/>
            </a:pPr>
            <a:endParaRPr lang="ru-RU" dirty="0"/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814585D-0B05-3FEB-4BFB-6052EA48BD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B82613-6D9D-DE42-6663-C6A8667E17B6}"/>
              </a:ext>
            </a:extLst>
          </p:cNvPr>
          <p:cNvSpPr/>
          <p:nvPr/>
        </p:nvSpPr>
        <p:spPr>
          <a:xfrm>
            <a:off x="9441299" y="4483198"/>
            <a:ext cx="2413012" cy="185402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Больше выручки для </a:t>
            </a:r>
            <a:r>
              <a:rPr lang="en-US" dirty="0"/>
              <a:t>Airbnb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EDE435-912B-399B-AC33-1D4302C28E5A}"/>
              </a:ext>
            </a:extLst>
          </p:cNvPr>
          <p:cNvSpPr/>
          <p:nvPr/>
        </p:nvSpPr>
        <p:spPr>
          <a:xfrm>
            <a:off x="1052225" y="2224815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Модель </a:t>
            </a:r>
            <a:r>
              <a:rPr lang="ru-RU" dirty="0" err="1"/>
              <a:t>кластеризирует</a:t>
            </a:r>
            <a:r>
              <a:rPr lang="ru-RU" dirty="0"/>
              <a:t> объекты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60BC0E-61DA-D80F-8031-772815C590A4}"/>
              </a:ext>
            </a:extLst>
          </p:cNvPr>
          <p:cNvSpPr/>
          <p:nvPr/>
        </p:nvSpPr>
        <p:spPr>
          <a:xfrm>
            <a:off x="4430369" y="2234327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Персональные рекомендации</a:t>
            </a:r>
            <a:endParaRPr lang="en-US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DE0470AA-259E-53BB-7963-262914A7DABE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3465237" y="3151827"/>
            <a:ext cx="965132" cy="9512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0416FFDA-C2A0-C8C5-F469-CA8BBAE7262E}"/>
              </a:ext>
            </a:extLst>
          </p:cNvPr>
          <p:cNvCxnSpPr>
            <a:cxnSpLocks/>
            <a:stCxn id="11" idx="6"/>
            <a:endCxn id="20" idx="0"/>
          </p:cNvCxnSpPr>
          <p:nvPr/>
        </p:nvCxnSpPr>
        <p:spPr>
          <a:xfrm>
            <a:off x="6843381" y="3161339"/>
            <a:ext cx="883112" cy="1422834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0B26C79-829F-6677-0121-8F068F793A63}"/>
              </a:ext>
            </a:extLst>
          </p:cNvPr>
          <p:cNvSpPr/>
          <p:nvPr/>
        </p:nvSpPr>
        <p:spPr>
          <a:xfrm>
            <a:off x="6519987" y="4584173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Объекты становятся более ликвидными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C2E2B5-3826-FAE5-EBF5-3065A3ABA4DD}"/>
              </a:ext>
            </a:extLst>
          </p:cNvPr>
          <p:cNvSpPr/>
          <p:nvPr/>
        </p:nvSpPr>
        <p:spPr>
          <a:xfrm>
            <a:off x="8329992" y="2131995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Больше бронирований</a:t>
            </a:r>
            <a:endParaRPr lang="en-US" dirty="0"/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F6B71076-85A4-CA13-7917-B9E9A482E7DC}"/>
              </a:ext>
            </a:extLst>
          </p:cNvPr>
          <p:cNvCxnSpPr>
            <a:cxnSpLocks/>
            <a:stCxn id="20" idx="7"/>
            <a:endCxn id="22" idx="3"/>
          </p:cNvCxnSpPr>
          <p:nvPr/>
        </p:nvCxnSpPr>
        <p:spPr>
          <a:xfrm rot="5400000" flipH="1" flipV="1">
            <a:off x="8060902" y="4233223"/>
            <a:ext cx="1141186" cy="103747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8C143858-B2C1-846F-3A52-E8E2921E5239}"/>
              </a:ext>
            </a:extLst>
          </p:cNvPr>
          <p:cNvCxnSpPr>
            <a:cxnSpLocks/>
            <a:stCxn id="22" idx="5"/>
            <a:endCxn id="7" idx="0"/>
          </p:cNvCxnSpPr>
          <p:nvPr/>
        </p:nvCxnSpPr>
        <p:spPr>
          <a:xfrm rot="16200000" flipH="1">
            <a:off x="10134369" y="3969761"/>
            <a:ext cx="768695" cy="258178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80F9D89F-54B5-522C-443A-527F0ACEDFCD}"/>
              </a:ext>
            </a:extLst>
          </p:cNvPr>
          <p:cNvSpPr/>
          <p:nvPr/>
        </p:nvSpPr>
        <p:spPr>
          <a:xfrm>
            <a:off x="-154281" y="4947220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Данные из </a:t>
            </a:r>
            <a:r>
              <a:rPr lang="en-US" dirty="0"/>
              <a:t>DWH</a:t>
            </a:r>
          </a:p>
        </p:txBody>
      </p: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613F7F1E-C985-EA9D-41DC-878CAFC57BD4}"/>
              </a:ext>
            </a:extLst>
          </p:cNvPr>
          <p:cNvCxnSpPr>
            <a:cxnSpLocks/>
            <a:stCxn id="83" idx="0"/>
            <a:endCxn id="9" idx="3"/>
          </p:cNvCxnSpPr>
          <p:nvPr/>
        </p:nvCxnSpPr>
        <p:spPr>
          <a:xfrm rot="5400000" flipH="1" flipV="1">
            <a:off x="658965" y="4200584"/>
            <a:ext cx="1139897" cy="353377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7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F6E5D-B9F2-11ED-CA71-0C3108EF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BD10D78-B3E0-2932-7810-ECBD427107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648FBB-22A5-D9F8-F378-481B0C414B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52C3B22-DA4B-FC03-B55F-8184651E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 схема влияния на выручку через интеграцию модели предсказания занятости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9D6F10-034C-7127-FD0B-852FEFA65A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numCol="2"/>
          <a:lstStyle/>
          <a:p>
            <a:pPr marL="342900" indent="-342900">
              <a:buAutoNum type="arabicPeriod"/>
            </a:pPr>
            <a:endParaRPr lang="ru-RU" dirty="0"/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6284438-3C3E-4626-825D-BE8433474F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19AC7B-A9A4-0734-8B8D-810A1643903A}"/>
              </a:ext>
            </a:extLst>
          </p:cNvPr>
          <p:cNvSpPr/>
          <p:nvPr/>
        </p:nvSpPr>
        <p:spPr>
          <a:xfrm>
            <a:off x="9441299" y="4483198"/>
            <a:ext cx="2413012" cy="185402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Больше выручки для </a:t>
            </a:r>
            <a:r>
              <a:rPr lang="en-US" dirty="0"/>
              <a:t>Airbnb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8EA4CB-9152-F14B-F9A6-52AAFB6A07F2}"/>
              </a:ext>
            </a:extLst>
          </p:cNvPr>
          <p:cNvSpPr/>
          <p:nvPr/>
        </p:nvSpPr>
        <p:spPr>
          <a:xfrm>
            <a:off x="934116" y="2131995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Модель предсказывает занятость новых объектов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D99688-4CD0-0CE4-E532-18F3A1B011E9}"/>
              </a:ext>
            </a:extLst>
          </p:cNvPr>
          <p:cNvSpPr/>
          <p:nvPr/>
        </p:nvSpPr>
        <p:spPr>
          <a:xfrm>
            <a:off x="2770422" y="4628319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Платформа подсказывает собам как улучшить ликвидность</a:t>
            </a:r>
            <a:endParaRPr lang="en-US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EB272F6F-F723-750E-2A05-AB1BE76391E4}"/>
              </a:ext>
            </a:extLst>
          </p:cNvPr>
          <p:cNvCxnSpPr>
            <a:cxnSpLocks/>
            <a:stCxn id="9" idx="4"/>
            <a:endCxn id="11" idx="2"/>
          </p:cNvCxnSpPr>
          <p:nvPr/>
        </p:nvCxnSpPr>
        <p:spPr>
          <a:xfrm rot="16200000" flipH="1">
            <a:off x="1670866" y="4455775"/>
            <a:ext cx="1569312" cy="629800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B4EC726-4F79-C46F-53DE-E8C3695E49E3}"/>
              </a:ext>
            </a:extLst>
          </p:cNvPr>
          <p:cNvCxnSpPr>
            <a:cxnSpLocks/>
            <a:stCxn id="11" idx="0"/>
            <a:endCxn id="27" idx="2"/>
          </p:cNvCxnSpPr>
          <p:nvPr/>
        </p:nvCxnSpPr>
        <p:spPr>
          <a:xfrm rot="16200000" flipV="1">
            <a:off x="3291677" y="3943068"/>
            <a:ext cx="1240455" cy="130048"/>
          </a:xfrm>
          <a:prstGeom prst="curvedConnector4">
            <a:avLst>
              <a:gd name="adj1" fmla="val 12634"/>
              <a:gd name="adj2" fmla="val 110352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EBC9B18-452D-639C-6B56-B014BF8322D5}"/>
              </a:ext>
            </a:extLst>
          </p:cNvPr>
          <p:cNvSpPr/>
          <p:nvPr/>
        </p:nvSpPr>
        <p:spPr>
          <a:xfrm>
            <a:off x="6519987" y="4584173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Объекты становятся более ликвидными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A83682-2259-3C56-F12F-8B6784F0466C}"/>
              </a:ext>
            </a:extLst>
          </p:cNvPr>
          <p:cNvSpPr/>
          <p:nvPr/>
        </p:nvSpPr>
        <p:spPr>
          <a:xfrm>
            <a:off x="8329992" y="2131995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Больше бронирований</a:t>
            </a: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7459649-E73E-4493-1AF9-567A9F82661E}"/>
              </a:ext>
            </a:extLst>
          </p:cNvPr>
          <p:cNvSpPr/>
          <p:nvPr/>
        </p:nvSpPr>
        <p:spPr>
          <a:xfrm>
            <a:off x="3846880" y="2460852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Собы правят описание и сами становятся лучше</a:t>
            </a:r>
            <a:endParaRPr lang="en-US" dirty="0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EFE052EE-4797-7A77-B2B6-2E1F7BFA338D}"/>
              </a:ext>
            </a:extLst>
          </p:cNvPr>
          <p:cNvCxnSpPr>
            <a:cxnSpLocks/>
            <a:stCxn id="27" idx="6"/>
            <a:endCxn id="20" idx="2"/>
          </p:cNvCxnSpPr>
          <p:nvPr/>
        </p:nvCxnSpPr>
        <p:spPr>
          <a:xfrm>
            <a:off x="6259892" y="3387864"/>
            <a:ext cx="260095" cy="2123321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164569C9-F5FB-7F39-D401-63D200D3EAF4}"/>
              </a:ext>
            </a:extLst>
          </p:cNvPr>
          <p:cNvCxnSpPr>
            <a:cxnSpLocks/>
            <a:stCxn id="20" idx="7"/>
            <a:endCxn id="22" idx="3"/>
          </p:cNvCxnSpPr>
          <p:nvPr/>
        </p:nvCxnSpPr>
        <p:spPr>
          <a:xfrm rot="5400000" flipH="1" flipV="1">
            <a:off x="8060902" y="4233223"/>
            <a:ext cx="1141186" cy="103747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2D4B6F74-0B6A-2C1C-F214-2510B1941906}"/>
              </a:ext>
            </a:extLst>
          </p:cNvPr>
          <p:cNvCxnSpPr>
            <a:cxnSpLocks/>
            <a:stCxn id="22" idx="5"/>
            <a:endCxn id="7" idx="0"/>
          </p:cNvCxnSpPr>
          <p:nvPr/>
        </p:nvCxnSpPr>
        <p:spPr>
          <a:xfrm rot="16200000" flipH="1">
            <a:off x="10134369" y="3969761"/>
            <a:ext cx="768695" cy="258178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5877219-1651-90FE-9D90-DC07443814A9}"/>
              </a:ext>
            </a:extLst>
          </p:cNvPr>
          <p:cNvSpPr/>
          <p:nvPr/>
        </p:nvSpPr>
        <p:spPr>
          <a:xfrm>
            <a:off x="103260" y="4913031"/>
            <a:ext cx="2413012" cy="18540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Данные из </a:t>
            </a:r>
            <a:r>
              <a:rPr lang="en-US" dirty="0"/>
              <a:t>DWH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7691A6BA-23C0-73DF-F259-484ED0873557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rot="16200000" flipV="1">
            <a:off x="194929" y="3798194"/>
            <a:ext cx="1854024" cy="375650"/>
          </a:xfrm>
          <a:prstGeom prst="curvedConnector4">
            <a:avLst>
              <a:gd name="adj1" fmla="val 25000"/>
              <a:gd name="adj2" fmla="val 382033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550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C036-239B-3B98-F1BC-671CCA9F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955711B-D308-E62A-BA0A-87FECB2A2D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DF1A27-E23E-2044-5DFF-8357F6FCAB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541653-BFD7-2CB4-22BD-A79281E8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4BB2E80-AA73-78E0-EE95-8DFE14E479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Компания:</a:t>
            </a:r>
          </a:p>
          <a:p>
            <a:endParaRPr lang="ru-RU" dirty="0"/>
          </a:p>
          <a:p>
            <a:r>
              <a:rPr lang="ru-RU" dirty="0"/>
              <a:t>Анализируемые данные:</a:t>
            </a:r>
          </a:p>
          <a:p>
            <a:r>
              <a:rPr lang="ru-RU" dirty="0"/>
              <a:t>Данные листинга </a:t>
            </a:r>
            <a:r>
              <a:rPr lang="en-US" dirty="0"/>
              <a:t>Airbnb</a:t>
            </a:r>
            <a:r>
              <a:rPr lang="ru-RU" dirty="0"/>
              <a:t> в Париже по стоянию на </a:t>
            </a:r>
            <a:r>
              <a:rPr lang="en-US" dirty="0"/>
              <a:t>2025-09-12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CA5397F-09D4-77B4-1A46-201FF99410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C0090A4-88FD-2DFB-24EE-673F70A047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474528F-3047-C895-4B89-D085B29998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55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A4651-1550-9389-397A-BB7D36255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6A4CB5C-A87D-1F81-6CA6-6D89DFCC3E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F50612-A964-AC3E-E0B0-07CC2110EF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118D3CF-5423-76BE-2517-CC4BC3E8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6C68E0-F8A6-2D5E-2594-F027FC316B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18312E0-0C5B-5D1A-5284-9A8FB9A6AA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461383B-C7C6-B628-1DCE-9317DB8B9F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23EC4F7-5753-DF48-0528-5357C9A6D4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921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80FC3A29-7E6A-6A44-ACE4-DF555422EA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7E5D6A-C1E4-8943-BE6A-9D9537FCC2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25E05A5-31FE-6744-BC43-4BB36CF747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46BB51F-3F05-3C42-B510-D008849890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38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686AF3F-C863-864E-AFDC-D574F8060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A1EC68-7619-8F49-AEC3-176ECF1F6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23B065-0902-0141-A245-63D5DCF436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872CBB7-AE1B-9D40-A298-6BDF023A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7F297E4-9695-684A-A8A3-54FEC94600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9" y="2379663"/>
            <a:ext cx="3934344" cy="239937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0C8845F-A8AF-E740-B50B-ED5E864366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BD719A7-142E-4F46-8CBF-24A2EA31B2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7072074"/>
              </p:ext>
            </p:extLst>
          </p:nvPr>
        </p:nvGraphicFramePr>
        <p:xfrm>
          <a:off x="5227605" y="1449388"/>
          <a:ext cx="6478438" cy="482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81150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86F7981-A866-4E4F-9C65-238C1CF1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B0430D-2AAB-034E-ACD0-CF459E67A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FAF764-99F8-D24D-8800-048869E59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77AD93-3EFC-2044-AFA8-AD76C22C45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180B62D-0B0D-424A-9F38-8A8CCB1A7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8320C78-70B9-FB4C-A8E5-E019F0B0F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6D5D6F76-9C34-3D40-B24A-A6A48894F6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645874"/>
              </p:ext>
            </p:extLst>
          </p:nvPr>
        </p:nvGraphicFramePr>
        <p:xfrm>
          <a:off x="5227605" y="1449388"/>
          <a:ext cx="6478438" cy="482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2589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BE1F6DB-2C79-0F40-985F-DB8180BAF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CC9B4C-151F-204A-9B26-BE1838EFB2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CD81CA-2715-AB4B-A575-27FBCE550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6248A15-8E7E-BC4A-A1F2-4446573B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59A9C6-69C4-5447-8A46-A98387532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046D457-8508-DC4E-812D-661705280F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2">
            <a:extLst>
              <a:ext uri="{FF2B5EF4-FFF2-40B4-BE49-F238E27FC236}">
                <a16:creationId xmlns:a16="http://schemas.microsoft.com/office/drawing/2014/main" id="{B6403415-0182-3040-9E71-1477248925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8286825"/>
              </p:ext>
            </p:extLst>
          </p:nvPr>
        </p:nvGraphicFramePr>
        <p:xfrm>
          <a:off x="5164930" y="1460275"/>
          <a:ext cx="6476207" cy="4765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82655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239B216-F5ED-B348-A1BB-CE85242168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86A2D4-D42B-854C-9F3E-6A8095E58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8F0E61-4402-1545-ABC6-7EB156E5B9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B6EC5B9-282D-B84A-B169-E82D5207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2A84FC5-C615-ED4D-97BC-765AAF5047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F119484-3D29-A348-BD16-DC41D64EC4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E558DF3-421A-AD4A-8AAD-D7C6C3A92B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D82ABC5-6628-FA4A-9DBB-38E61DCF39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CC25597-0929-B146-8CD4-B783CF82D8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34FA5CE5-ECF7-C344-83CF-2D4A06A5041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159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79B934C-D7E2-DD48-BCA2-BCD2E21D6C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654682-36D6-CD40-8608-A97244D28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43567B-6E74-9542-8F9A-1A48CBB738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204F7D-250B-3E40-B4D7-7CC3EB67E9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120C26E-BD42-274D-944E-BE316BE9C3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B139B2D5-1198-C647-919C-53E12F01A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73429"/>
              </p:ext>
            </p:extLst>
          </p:nvPr>
        </p:nvGraphicFramePr>
        <p:xfrm>
          <a:off x="585787" y="2274857"/>
          <a:ext cx="11058081" cy="299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451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1046102616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3784908466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107996159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Название столбца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Кооперация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Минимизация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Актуализация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Верификация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Буферизация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Показатели эффективности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12 343 567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3 287 498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34 353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456 578 678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23 424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Еще показатели, </a:t>
                      </a:r>
                      <a:b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</a:b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но эффективности ли?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345 353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28 764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67 868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909 837 459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900 077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 еще немного показателей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67 868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1 293 090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23 324 213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12 334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34 567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ИТОГО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63 836 746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35 216 735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75 984 375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3 984 759 835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34 785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01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89DE17A-284C-2E41-93C3-9200CA02CA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78241C-36DA-AB4E-9AD3-95F879081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3F95F2-80C6-8C4D-9EEF-1B0C6D5074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9146A8-906F-D549-86C7-8070DF7723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59F32C4-55B8-154A-9E2C-3ED20C5F2B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E1C6FBC-4D80-1A4A-974A-8D8B40DD35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D12E3B33-2014-1148-A557-995194FEF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392704"/>
              </p:ext>
            </p:extLst>
          </p:nvPr>
        </p:nvGraphicFramePr>
        <p:xfrm>
          <a:off x="517198" y="2312627"/>
          <a:ext cx="7529520" cy="299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808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505904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1505904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1505904">
                  <a:extLst>
                    <a:ext uri="{9D8B030D-6E8A-4147-A177-3AD203B41FA5}">
                      <a16:colId xmlns:a16="http://schemas.microsoft.com/office/drawing/2014/main" val="107996159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Название столбца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Актуализация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Верификация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Буферизация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Показатели эффективности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34 353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456 578 678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23 424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Еще показатели, </a:t>
                      </a:r>
                      <a:b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</a:b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но эффективности ли?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67 868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909 837 459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900 077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 еще немного показателей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23 324 213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12 334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34 567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ИТОГО</a:t>
                      </a:r>
                      <a:endParaRPr lang="en-RU" sz="10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75 984 375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3 984 759 835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34 785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831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17</a:t>
            </a:fld>
            <a:endParaRPr lang="ru-RU" sz="200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4444CA-9D6F-284E-98D3-495FED2BD6B6}"/>
              </a:ext>
            </a:extLst>
          </p:cNvPr>
          <p:cNvSpPr txBox="1"/>
          <p:nvPr/>
        </p:nvSpPr>
        <p:spPr>
          <a:xfrm>
            <a:off x="489975" y="1396903"/>
            <a:ext cx="10132991" cy="83099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ru-RU" sz="240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8FC5D1-C06C-E849-9E8B-5E67DDC48923}"/>
              </a:ext>
            </a:extLst>
          </p:cNvPr>
          <p:cNvSpPr txBox="1"/>
          <p:nvPr/>
        </p:nvSpPr>
        <p:spPr>
          <a:xfrm>
            <a:off x="517199" y="2367263"/>
            <a:ext cx="2808710" cy="169277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5392982" y="1539363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DE0A4AB-A313-3D40-B5AD-E5C8DC95DB74}"/>
              </a:ext>
            </a:extLst>
          </p:cNvPr>
          <p:cNvSpPr/>
          <p:nvPr/>
        </p:nvSpPr>
        <p:spPr>
          <a:xfrm>
            <a:off x="6742925" y="1539363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8E7781-F2DE-D74E-9B7F-C8C6D0D61522}"/>
              </a:ext>
            </a:extLst>
          </p:cNvPr>
          <p:cNvSpPr/>
          <p:nvPr/>
        </p:nvSpPr>
        <p:spPr>
          <a:xfrm>
            <a:off x="8092868" y="1539363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7827DCE-02F9-5143-BDEA-B106C5917739}"/>
              </a:ext>
            </a:extLst>
          </p:cNvPr>
          <p:cNvSpPr/>
          <p:nvPr/>
        </p:nvSpPr>
        <p:spPr>
          <a:xfrm>
            <a:off x="9442811" y="1539363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13482E6-4D29-2A46-BB3E-589A6F246F89}"/>
              </a:ext>
            </a:extLst>
          </p:cNvPr>
          <p:cNvSpPr/>
          <p:nvPr/>
        </p:nvSpPr>
        <p:spPr>
          <a:xfrm>
            <a:off x="10792754" y="1539363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51925AB-6C21-5A46-9F9B-1CA8099188A8}"/>
              </a:ext>
            </a:extLst>
          </p:cNvPr>
          <p:cNvSpPr/>
          <p:nvPr/>
        </p:nvSpPr>
        <p:spPr>
          <a:xfrm>
            <a:off x="5392982" y="2800272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02F69A0-A988-4242-A9E8-880848B00B03}"/>
              </a:ext>
            </a:extLst>
          </p:cNvPr>
          <p:cNvSpPr/>
          <p:nvPr/>
        </p:nvSpPr>
        <p:spPr>
          <a:xfrm>
            <a:off x="6742925" y="2800272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8092868" y="2800272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AE87591-F9D6-6344-9807-0B35DF0B2062}"/>
              </a:ext>
            </a:extLst>
          </p:cNvPr>
          <p:cNvSpPr/>
          <p:nvPr/>
        </p:nvSpPr>
        <p:spPr>
          <a:xfrm>
            <a:off x="9442811" y="2800272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769F254-2DAF-F84D-832D-24A3D0003AAB}"/>
              </a:ext>
            </a:extLst>
          </p:cNvPr>
          <p:cNvSpPr/>
          <p:nvPr/>
        </p:nvSpPr>
        <p:spPr>
          <a:xfrm>
            <a:off x="10792754" y="2800272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21E739E-B51D-C142-BDEB-28AD4BA9CA01}"/>
              </a:ext>
            </a:extLst>
          </p:cNvPr>
          <p:cNvSpPr/>
          <p:nvPr/>
        </p:nvSpPr>
        <p:spPr>
          <a:xfrm>
            <a:off x="5392982" y="4061182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F99637E-2D27-9242-AFF4-A09F1DDC431E}"/>
              </a:ext>
            </a:extLst>
          </p:cNvPr>
          <p:cNvSpPr/>
          <p:nvPr/>
        </p:nvSpPr>
        <p:spPr>
          <a:xfrm>
            <a:off x="6742925" y="4061182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3F586A1-643C-B345-9ADE-799A215A0217}"/>
              </a:ext>
            </a:extLst>
          </p:cNvPr>
          <p:cNvSpPr/>
          <p:nvPr/>
        </p:nvSpPr>
        <p:spPr>
          <a:xfrm>
            <a:off x="8092868" y="4061182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1DFB083-9056-1444-9A0D-2C325BC82455}"/>
              </a:ext>
            </a:extLst>
          </p:cNvPr>
          <p:cNvSpPr/>
          <p:nvPr/>
        </p:nvSpPr>
        <p:spPr>
          <a:xfrm>
            <a:off x="9442811" y="4061182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34B6D0A-E0DA-6544-B438-0448F952579B}"/>
              </a:ext>
            </a:extLst>
          </p:cNvPr>
          <p:cNvSpPr/>
          <p:nvPr/>
        </p:nvSpPr>
        <p:spPr>
          <a:xfrm>
            <a:off x="10792754" y="4061182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A0ADF3E-E144-3748-847C-21566C272BC7}"/>
              </a:ext>
            </a:extLst>
          </p:cNvPr>
          <p:cNvSpPr/>
          <p:nvPr/>
        </p:nvSpPr>
        <p:spPr>
          <a:xfrm>
            <a:off x="5392982" y="5341342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345C75-AE5D-2640-AA19-BA885DDC38A2}"/>
              </a:ext>
            </a:extLst>
          </p:cNvPr>
          <p:cNvSpPr/>
          <p:nvPr/>
        </p:nvSpPr>
        <p:spPr>
          <a:xfrm>
            <a:off x="6742925" y="5341342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F2F2A4F-FBE1-7149-9E3D-BFEB7D66D50D}"/>
              </a:ext>
            </a:extLst>
          </p:cNvPr>
          <p:cNvSpPr/>
          <p:nvPr/>
        </p:nvSpPr>
        <p:spPr>
          <a:xfrm>
            <a:off x="8092868" y="5341342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9442811" y="534134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E4896C9-4AB9-D643-B3ED-7FAD81A68D76}"/>
              </a:ext>
            </a:extLst>
          </p:cNvPr>
          <p:cNvSpPr/>
          <p:nvPr/>
        </p:nvSpPr>
        <p:spPr>
          <a:xfrm>
            <a:off x="10792754" y="5341342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C66643-1ABC-3D4D-9BCC-76A74AE83A92}"/>
              </a:ext>
            </a:extLst>
          </p:cNvPr>
          <p:cNvSpPr txBox="1"/>
          <p:nvPr/>
        </p:nvSpPr>
        <p:spPr>
          <a:xfrm>
            <a:off x="1057816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5912A7-8DCC-AF4C-82B2-7283ED0B4053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16C3C5-5235-EC47-85FA-7C1895E625F8}"/>
              </a:ext>
            </a:extLst>
          </p:cNvPr>
          <p:cNvSpPr txBox="1"/>
          <p:nvPr/>
        </p:nvSpPr>
        <p:spPr>
          <a:xfrm>
            <a:off x="6158118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108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FFBD88B-BF2A-8F44-B648-677BB7D975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6DFA47-ACB8-5246-AC9C-19D438CF65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A5DD86-C5F3-5843-B60F-AC26E1B16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060AA73-8574-054A-B94B-1EAA5FAB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E7B9744-FF5D-DB4B-8DCD-FF4C0C5728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4F67C03-69F9-1545-97DC-7A7E8768AD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022D589A-AE6E-0148-B445-EEFA833B44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3250265"/>
              </p:ext>
            </p:extLst>
          </p:nvPr>
        </p:nvGraphicFramePr>
        <p:xfrm>
          <a:off x="5443267" y="1478263"/>
          <a:ext cx="6197871" cy="4741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89723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00C4599-D949-6249-9062-C77D642165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61ED2D-36DC-AE46-9981-A638C91D8A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2072AC-9151-194C-B908-9F4F2D9B42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D6A4FAF-EC6A-C648-997B-399BE9C4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CC1D1D6-ED62-E74A-9164-8665C27429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3DA4FC2-5228-4246-AAA9-98E8805877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10" name="Chart 2">
            <a:extLst>
              <a:ext uri="{FF2B5EF4-FFF2-40B4-BE49-F238E27FC236}">
                <a16:creationId xmlns:a16="http://schemas.microsoft.com/office/drawing/2014/main" id="{C6004EA5-C3A3-F640-818F-605E421A80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5499959"/>
              </p:ext>
            </p:extLst>
          </p:nvPr>
        </p:nvGraphicFramePr>
        <p:xfrm>
          <a:off x="5382882" y="1491751"/>
          <a:ext cx="6203707" cy="4782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5935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BBEC88F-6906-354A-A295-B901540E38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7B27E3-403D-0A44-820A-E949712966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DC373F-6B5B-D34B-88FC-10A379931F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9136B00-8ADB-0C43-B3A0-0D2A6264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A515058-8F19-BC4F-8C77-159E5910F8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Диаграммы и графики можно делать с использованием паттернов, которые доступны в </a:t>
            </a:r>
            <a:r>
              <a:rPr lang="en-GB" dirty="0"/>
              <a:t>Power Point, </a:t>
            </a:r>
            <a:r>
              <a:rPr lang="ru-RU" dirty="0"/>
              <a:t>главное не переборщить с украшательством. Для заливки можно выбрать основной темно-синий цвет и дополнительный синий.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3B9F0BA-3D71-034B-9EF0-4C4758E86F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2">
            <a:extLst>
              <a:ext uri="{FF2B5EF4-FFF2-40B4-BE49-F238E27FC236}">
                <a16:creationId xmlns:a16="http://schemas.microsoft.com/office/drawing/2014/main" id="{7C5B2B87-83A4-4F43-9C22-8B3D1106CA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0374232"/>
              </p:ext>
            </p:extLst>
          </p:nvPr>
        </p:nvGraphicFramePr>
        <p:xfrm>
          <a:off x="5365630" y="1491751"/>
          <a:ext cx="6220960" cy="4782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218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663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461</Words>
  <Application>Microsoft Office PowerPoint</Application>
  <PresentationFormat>Widescreen</PresentationFormat>
  <Paragraphs>98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HSE Sans</vt:lpstr>
      <vt:lpstr>Office Theme</vt:lpstr>
      <vt:lpstr>PowerPoint Presentation</vt:lpstr>
      <vt:lpstr>PowerPoint Presentation</vt:lpstr>
      <vt:lpstr>Бизнес схема влияния на выручку через интеграцию модели кластеризации</vt:lpstr>
      <vt:lpstr>Бизнес схема влияния на выручку через интеграцию модели предсказания занятости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Aleksandr Vetrov</cp:lastModifiedBy>
  <cp:revision>17</cp:revision>
  <cp:lastPrinted>2021-11-11T13:08:42Z</cp:lastPrinted>
  <dcterms:created xsi:type="dcterms:W3CDTF">2021-11-11T08:52:47Z</dcterms:created>
  <dcterms:modified xsi:type="dcterms:W3CDTF">2026-06-17T17:28:02Z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